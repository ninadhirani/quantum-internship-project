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6C5CE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00B8A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VS CLASSICAL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the Capacitated Vehicle Routing Problem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(classical) vs. QAOA on Qiskit Aer (quantum) — an honest, reproducible benchmark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|  Ninad Hirani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Vehicle Routing Problem (CVRP)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depot must dispatch a fleet of vehicles to serve a set of customers, each with its own demand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total distance traveled, without any vehicle exceeding its capacity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— it generalizes the Traveling Salesman Problem, so exact solvers don't scale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both classical heuristics and quantum optimization are worth comparing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09160" cy="4480560"/>
          </a:xfrm>
          <a:prstGeom prst="roundRect">
            <a:avLst>
              <a:gd name="adj" fmla="val 2449"/>
            </a:avLst>
          </a:prstGeom>
          <a:solidFill>
            <a:srgbClr val="F4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2194560"/>
            <a:ext cx="1645920" cy="1463040"/>
          </a:xfrm>
          <a:prstGeom prst="line">
            <a:avLst/>
          </a:prstGeom>
          <a:noFill/>
          <a:ln w="19050">
            <a:solidFill>
              <a:srgbClr val="C7CA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2286000"/>
            <a:ext cx="1371600" cy="1371600"/>
          </a:xfrm>
          <a:prstGeom prst="line">
            <a:avLst/>
          </a:prstGeom>
          <a:noFill/>
          <a:ln w="19050">
            <a:solidFill>
              <a:srgbClr val="C7C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657600"/>
            <a:ext cx="1371600" cy="1371600"/>
          </a:xfrm>
          <a:prstGeom prst="line">
            <a:avLst/>
          </a:prstGeom>
          <a:noFill/>
          <a:ln w="19050">
            <a:solidFill>
              <a:srgbClr val="C7C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657600"/>
            <a:ext cx="1280160" cy="1463040"/>
          </a:xfrm>
          <a:prstGeom prst="line">
            <a:avLst/>
          </a:prstGeom>
          <a:noFill/>
          <a:ln w="19050">
            <a:solidFill>
              <a:srgbClr val="C7C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2834640"/>
            <a:ext cx="182880" cy="822960"/>
          </a:xfrm>
          <a:prstGeom prst="line">
            <a:avLst/>
          </a:prstGeom>
          <a:noFill/>
          <a:ln w="19050">
            <a:solidFill>
              <a:srgbClr val="C7C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657600"/>
            <a:ext cx="548640" cy="822960"/>
          </a:xfrm>
          <a:prstGeom prst="line">
            <a:avLst/>
          </a:prstGeom>
          <a:noFill/>
          <a:ln w="19050">
            <a:solidFill>
              <a:srgbClr val="C7C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0648" y="2075688"/>
            <a:ext cx="237744" cy="237744"/>
          </a:xfrm>
          <a:prstGeom prst="ellipse">
            <a:avLst/>
          </a:prstGeom>
          <a:solidFill>
            <a:srgbClr val="00B8A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88168" y="2167128"/>
            <a:ext cx="237744" cy="237744"/>
          </a:xfrm>
          <a:prstGeom prst="ellipse">
            <a:avLst/>
          </a:prstGeom>
          <a:solidFill>
            <a:srgbClr val="00B8A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44968" y="4910328"/>
            <a:ext cx="237744" cy="237744"/>
          </a:xfrm>
          <a:prstGeom prst="ellipse">
            <a:avLst/>
          </a:prstGeom>
          <a:solidFill>
            <a:srgbClr val="00B8A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96728" y="5001768"/>
            <a:ext cx="237744" cy="237744"/>
          </a:xfrm>
          <a:prstGeom prst="ellipse">
            <a:avLst/>
          </a:prstGeom>
          <a:solidFill>
            <a:srgbClr val="00B8A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33688" y="2715768"/>
            <a:ext cx="237744" cy="237744"/>
          </a:xfrm>
          <a:prstGeom prst="ellipse">
            <a:avLst/>
          </a:prstGeom>
          <a:solidFill>
            <a:srgbClr val="00B8A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65208" y="4361688"/>
            <a:ext cx="237744" cy="237744"/>
          </a:xfrm>
          <a:prstGeom prst="ellipse">
            <a:avLst/>
          </a:prstGeom>
          <a:solidFill>
            <a:srgbClr val="00B8A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61704" y="3483864"/>
            <a:ext cx="347472" cy="347472"/>
          </a:xfrm>
          <a:prstGeom prst="ellipse">
            <a:avLst/>
          </a:prstGeom>
          <a:solidFill>
            <a:srgbClr val="6C5C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3858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58064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nodes with demand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Approaches, One Benchmark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 instance, solved both ways, compared honestly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OR-Tools — Guided Local Search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292608" cy="29260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distance matrix from customer coordinates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292608" cy="29260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7033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search: local moves + guided perturbation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292608" cy="29260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4805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scalable, no optimality guarantee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 on Qiskit Aer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29400" y="2971800"/>
            <a:ext cx="292608" cy="2926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29260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routes as a QUBO (binary decision variables + penalty terms)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749040"/>
            <a:ext cx="292608" cy="2926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37033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QUBO to an Ising Hamiltonian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4526280"/>
            <a:ext cx="292608" cy="2926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4805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p-layer QAOA; classical optimizer (COBYLA) tunes the circuit angles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instance, seeded for reproducibility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3756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/ Vehicle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540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 configuration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qubits (position-encoded QUBO)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QAOA layers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 classical optimizer, 100 max iterations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simulator (no real QPU access)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397764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only 3 customers?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4526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simulation scales exponentially. 4 customers needs 24 qubits (~1hr+ to simulate); 5 needs 33 qubits — intractable on a standard CPU. 3 customers keeps the demo honest and fast (~1 minute).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Results — OR-Tools</a:t>
            </a:r>
            <a:endParaRPr lang="en-US" sz="3000" dirty="0"/>
          </a:p>
        </p:txBody>
      </p:sp>
      <p:pic>
        <p:nvPicPr>
          <p:cNvPr id="3" name="Image 0" descr="ortools_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760720" cy="41696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0" y="141732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F4F4F8"/>
          </a:solidFill>
          <a:ln/>
        </p:spPr>
      </p:sp>
      <p:sp>
        <p:nvSpPr>
          <p:cNvPr id="5" name="Text 2"/>
          <p:cNvSpPr/>
          <p:nvPr/>
        </p:nvSpPr>
        <p:spPr>
          <a:xfrm>
            <a:off x="7040880" y="152704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137.71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86968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766560" y="283464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F4F4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29443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869680" y="28346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0" y="425196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F4F4F8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436168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869680" y="4251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Results — QAOA</a:t>
            </a:r>
            <a:endParaRPr lang="en-US" sz="3000" dirty="0"/>
          </a:p>
        </p:txBody>
      </p:sp>
      <p:pic>
        <p:nvPicPr>
          <p:cNvPr id="3" name="Image 0" descr="qaoa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23560" cy="4041648"/>
          </a:xfrm>
          <a:prstGeom prst="rect">
            <a:avLst/>
          </a:prstGeom>
        </p:spPr>
      </p:pic>
      <p:pic>
        <p:nvPicPr>
          <p:cNvPr id="4" name="Image 1" descr="qaoa_rou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5623560" cy="40416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2578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52578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67.8s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94560" y="5257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389120" y="52578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0" y="52578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126480" y="5257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52578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/>
        </p:spPr>
      </p:sp>
      <p:sp>
        <p:nvSpPr>
          <p:cNvPr id="12" name="Text 8"/>
          <p:cNvSpPr/>
          <p:nvPr/>
        </p:nvSpPr>
        <p:spPr>
          <a:xfrm>
            <a:off x="8503920" y="52578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Infeasible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058400" y="5257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Solution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Comparison</a:t>
            </a:r>
            <a:endParaRPr lang="en-US" sz="3000" dirty="0"/>
          </a:p>
        </p:txBody>
      </p:sp>
      <p:pic>
        <p:nvPicPr>
          <p:cNvPr id="3" name="Image 0" descr="benchmark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10149840" cy="4416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instance size, classical wins on every axis that matters today.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62B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733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OR-Tools consistently wins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Feasible, near-optimal solutions in seconds — no surprise, it's a mature, purpose-built solver.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62B52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6733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 is honestly reported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262432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p=2 run came back infeasible rather than being cherry-picked — this is expected at NISQ-era scale, not a bug.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62B5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0050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B8A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Qubit count is the real bottleneck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49560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encoding scales fast: 3 customers → 17 qubits, 4 → 24, 5 → 33. Simulation cost grows exponentially.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62B5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0050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B8A9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was fixed and verified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46520" y="49560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Fresh-clone install, full pipeline run, and figures/benchmark numbers now match the code exactly.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Try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4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28216"/>
            <a:ext cx="329184" cy="32918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28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QAOA layers (p ≥ 3) to improve approximation quality, trading off circuit depth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4F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569464"/>
            <a:ext cx="329184" cy="32918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9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39572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penalty weights more carefully — infeasibility is often a penalty-balance problem, not just qubit 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10712"/>
            <a:ext cx="329184" cy="32918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0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23697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warm-started parameters instead of random initial angles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251960"/>
            <a:ext cx="329184" cy="32918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07822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more qubit-efficient encoding to push past the 3-customer ceiling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093208"/>
            <a:ext cx="329184" cy="32918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93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91947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real QPU hardware once problem size allows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754880" cy="4754880"/>
          </a:xfrm>
          <a:prstGeom prst="ellipse">
            <a:avLst/>
          </a:prstGeom>
          <a:solidFill>
            <a:srgbClr val="6C5CE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00B8A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51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2026-07-13T08:14:32Z</dcterms:created>
  <dcterms:modified xsi:type="dcterms:W3CDTF">2026-07-13T08:14:32Z</dcterms:modified>
</cp:coreProperties>
</file>